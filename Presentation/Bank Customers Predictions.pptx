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13" d="100"/>
          <a:sy n="113" d="100"/>
        </p:scale>
        <p:origin x="4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ABD61D-B678-4578-B595-EC75332632D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41B11-DCCB-42CA-85EC-320EF5BB60A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44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ABD61D-B678-4578-B595-EC75332632D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319336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ABD61D-B678-4578-B595-EC75332632D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41B11-DCCB-42CA-85EC-320EF5BB60A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2897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ABD61D-B678-4578-B595-EC75332632D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3299500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ABD61D-B678-4578-B595-EC75332632D4}"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2679061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ABD61D-B678-4578-B595-EC75332632D4}"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2291732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DABD61D-B678-4578-B595-EC75332632D4}" type="datetimeFigureOut">
              <a:rPr lang="en-US" smtClean="0"/>
              <a:t>8/13/2026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3295481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DABD61D-B678-4578-B595-EC75332632D4}" type="datetimeFigureOut">
              <a:rPr lang="en-US" smtClean="0"/>
              <a:t>8/13/2026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3C41B11-DCCB-42CA-85EC-320EF5BB60AD}" type="slidenum">
              <a:rPr lang="en-US" smtClean="0"/>
              <a:t>‹#›</a:t>
            </a:fld>
            <a:endParaRPr lang="en-US"/>
          </a:p>
        </p:txBody>
      </p:sp>
    </p:spTree>
    <p:extLst>
      <p:ext uri="{BB962C8B-B14F-4D97-AF65-F5344CB8AC3E}">
        <p14:creationId xmlns:p14="http://schemas.microsoft.com/office/powerpoint/2010/main" val="1451870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ABD61D-B678-4578-B595-EC75332632D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3505119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ABD61D-B678-4578-B595-EC75332632D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4115244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ABD61D-B678-4578-B595-EC75332632D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41B11-DCCB-42CA-85EC-320EF5BB60AD}" type="slidenum">
              <a:rPr lang="en-US" smtClean="0"/>
              <a:t>‹#›</a:t>
            </a:fld>
            <a:endParaRPr lang="en-US"/>
          </a:p>
        </p:txBody>
      </p:sp>
    </p:spTree>
    <p:extLst>
      <p:ext uri="{BB962C8B-B14F-4D97-AF65-F5344CB8AC3E}">
        <p14:creationId xmlns:p14="http://schemas.microsoft.com/office/powerpoint/2010/main" val="4651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DABD61D-B678-4578-B595-EC75332632D4}" type="datetimeFigureOut">
              <a:rPr lang="en-US" smtClean="0"/>
              <a:t>8/13/2026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3C41B11-DCCB-42CA-85EC-320EF5BB60A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79882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A2B8-1B97-3B91-40A6-B34716495F8A}"/>
              </a:ext>
            </a:extLst>
          </p:cNvPr>
          <p:cNvSpPr>
            <a:spLocks noGrp="1"/>
          </p:cNvSpPr>
          <p:nvPr>
            <p:ph type="title" idx="4294967295"/>
          </p:nvPr>
        </p:nvSpPr>
        <p:spPr>
          <a:xfrm>
            <a:off x="1066799" y="569885"/>
            <a:ext cx="10058400" cy="1449387"/>
          </a:xfrm>
        </p:spPr>
        <p:txBody>
          <a:bodyPr>
            <a:normAutofit/>
          </a:bodyPr>
          <a:lstStyle/>
          <a:p>
            <a:pPr algn="ctr"/>
            <a:r>
              <a:rPr lang="en-US" b="1" dirty="0">
                <a:latin typeface="Times New Roman" panose="02020603050405020304" pitchFamily="18" charset="0"/>
                <a:cs typeface="Times New Roman" panose="02020603050405020304" pitchFamily="18" charset="0"/>
              </a:rPr>
              <a:t>Bank Customers Predictions Using Deep Learning </a:t>
            </a:r>
            <a:r>
              <a:rPr lang="en-US" b="1" dirty="0">
                <a:solidFill>
                  <a:srgbClr val="FF0000"/>
                </a:solidFill>
                <a:latin typeface="Times New Roman" panose="02020603050405020304" pitchFamily="18" charset="0"/>
                <a:cs typeface="Times New Roman" panose="02020603050405020304" pitchFamily="18" charset="0"/>
              </a:rPr>
              <a:t>Neural Networks</a:t>
            </a:r>
            <a:endParaRPr lang="en-US" dirty="0">
              <a:solidFill>
                <a:srgbClr val="FF0000"/>
              </a:solidFill>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AA199F4B-3DBD-B7C7-729F-FABCEE1E7B13}"/>
              </a:ext>
            </a:extLst>
          </p:cNvPr>
          <p:cNvGrpSpPr/>
          <p:nvPr/>
        </p:nvGrpSpPr>
        <p:grpSpPr>
          <a:xfrm>
            <a:off x="1651000" y="5181597"/>
            <a:ext cx="8890000" cy="646333"/>
            <a:chOff x="1778000" y="3784598"/>
            <a:chExt cx="8890000" cy="646333"/>
          </a:xfrm>
        </p:grpSpPr>
        <p:sp>
          <p:nvSpPr>
            <p:cNvPr id="4" name="TextBox 3">
              <a:extLst>
                <a:ext uri="{FF2B5EF4-FFF2-40B4-BE49-F238E27FC236}">
                  <a16:creationId xmlns:a16="http://schemas.microsoft.com/office/drawing/2014/main" id="{58A1304D-C019-F87C-A730-3989009773F6}"/>
                </a:ext>
              </a:extLst>
            </p:cNvPr>
            <p:cNvSpPr txBox="1"/>
            <p:nvPr/>
          </p:nvSpPr>
          <p:spPr>
            <a:xfrm>
              <a:off x="1778000" y="3784600"/>
              <a:ext cx="222673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Ali AL-Hasan </a:t>
              </a:r>
            </a:p>
            <a:p>
              <a:pPr algn="ctr"/>
              <a:r>
                <a:rPr lang="ar-SY" dirty="0">
                  <a:latin typeface="Times New Roman" panose="02020603050405020304" pitchFamily="18" charset="0"/>
                  <a:cs typeface="Times New Roman" panose="02020603050405020304" pitchFamily="18" charset="0"/>
                </a:rPr>
                <a:t>240000</a:t>
              </a:r>
              <a:r>
                <a:rPr lang="en-US" dirty="0">
                  <a:latin typeface="Times New Roman" panose="02020603050405020304" pitchFamily="18" charset="0"/>
                  <a:cs typeface="Times New Roman" panose="02020603050405020304" pitchFamily="18" charset="0"/>
                </a:rPr>
                <a:t>1</a:t>
              </a:r>
              <a:r>
                <a:rPr lang="ar-SY" dirty="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8164D86-B375-0F7C-CBB0-954035D43653}"/>
                </a:ext>
              </a:extLst>
            </p:cNvPr>
            <p:cNvSpPr txBox="1"/>
            <p:nvPr/>
          </p:nvSpPr>
          <p:spPr>
            <a:xfrm>
              <a:off x="5109634" y="3784598"/>
              <a:ext cx="222673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Rola Yaseen</a:t>
              </a:r>
            </a:p>
            <a:p>
              <a:pPr algn="ctr"/>
              <a:r>
                <a:rPr lang="ar-SY" dirty="0">
                  <a:latin typeface="Times New Roman" panose="02020603050405020304" pitchFamily="18" charset="0"/>
                  <a:cs typeface="Times New Roman" panose="02020603050405020304" pitchFamily="18" charset="0"/>
                </a:rPr>
                <a:t>24000044</a:t>
              </a:r>
            </a:p>
          </p:txBody>
        </p:sp>
        <p:sp>
          <p:nvSpPr>
            <p:cNvPr id="6" name="TextBox 5">
              <a:extLst>
                <a:ext uri="{FF2B5EF4-FFF2-40B4-BE49-F238E27FC236}">
                  <a16:creationId xmlns:a16="http://schemas.microsoft.com/office/drawing/2014/main" id="{C63D466F-66A0-1BCE-C3FF-36E1082D752C}"/>
                </a:ext>
              </a:extLst>
            </p:cNvPr>
            <p:cNvSpPr txBox="1"/>
            <p:nvPr/>
          </p:nvSpPr>
          <p:spPr>
            <a:xfrm>
              <a:off x="8441267" y="3784599"/>
              <a:ext cx="2226733"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Batoul Labban</a:t>
              </a:r>
            </a:p>
            <a:p>
              <a:pPr algn="ctr"/>
              <a:r>
                <a:rPr lang="ar-SY" dirty="0">
                  <a:latin typeface="Times New Roman" panose="02020603050405020304" pitchFamily="18" charset="0"/>
                  <a:cs typeface="Times New Roman" panose="02020603050405020304" pitchFamily="18" charset="0"/>
                </a:rPr>
                <a:t>240000</a:t>
              </a:r>
              <a:r>
                <a:rPr lang="en-US" dirty="0">
                  <a:latin typeface="Times New Roman" panose="02020603050405020304" pitchFamily="18" charset="0"/>
                  <a:cs typeface="Times New Roman" panose="02020603050405020304" pitchFamily="18" charset="0"/>
                </a:rPr>
                <a:t>5</a:t>
              </a:r>
              <a:r>
                <a:rPr lang="ar-SY" dirty="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grpSp>
      <p:pic>
        <p:nvPicPr>
          <p:cNvPr id="11" name="Picture 10">
            <a:extLst>
              <a:ext uri="{FF2B5EF4-FFF2-40B4-BE49-F238E27FC236}">
                <a16:creationId xmlns:a16="http://schemas.microsoft.com/office/drawing/2014/main" id="{B43B8E30-B91E-18FC-3806-6CA170DB5A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373" y="2233584"/>
            <a:ext cx="7565253" cy="2519392"/>
          </a:xfrm>
          <a:prstGeom prst="rect">
            <a:avLst/>
          </a:prstGeom>
        </p:spPr>
      </p:pic>
    </p:spTree>
    <p:extLst>
      <p:ext uri="{BB962C8B-B14F-4D97-AF65-F5344CB8AC3E}">
        <p14:creationId xmlns:p14="http://schemas.microsoft.com/office/powerpoint/2010/main" val="2552726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104215-103D-6B56-C11F-E58F5E3DAEF8}"/>
              </a:ext>
            </a:extLst>
          </p:cNvPr>
          <p:cNvSpPr txBox="1"/>
          <p:nvPr/>
        </p:nvSpPr>
        <p:spPr>
          <a:xfrm>
            <a:off x="237066" y="245534"/>
            <a:ext cx="8229926" cy="1446550"/>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Overview Of The Dataset And The Problem:</a:t>
            </a:r>
          </a:p>
        </p:txBody>
      </p:sp>
      <p:sp>
        <p:nvSpPr>
          <p:cNvPr id="5" name="TextBox 4">
            <a:extLst>
              <a:ext uri="{FF2B5EF4-FFF2-40B4-BE49-F238E27FC236}">
                <a16:creationId xmlns:a16="http://schemas.microsoft.com/office/drawing/2014/main" id="{D782C8B7-5CEB-1D06-F059-1E6F80BD431F}"/>
              </a:ext>
            </a:extLst>
          </p:cNvPr>
          <p:cNvSpPr txBox="1"/>
          <p:nvPr/>
        </p:nvSpPr>
        <p:spPr>
          <a:xfrm>
            <a:off x="266699" y="1859101"/>
            <a:ext cx="11658601"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dataset include features like credit score, geography, gender, age, balance and activity status. Based on this the problem we are trying to solve is to predict customer churn (exit) in a bank, meaning to predict if they will leave the bank (Exited = 1) or remain (Exited = 0). </a:t>
            </a:r>
          </a:p>
        </p:txBody>
      </p:sp>
      <p:sp>
        <p:nvSpPr>
          <p:cNvPr id="6" name="TextBox 5">
            <a:extLst>
              <a:ext uri="{FF2B5EF4-FFF2-40B4-BE49-F238E27FC236}">
                <a16:creationId xmlns:a16="http://schemas.microsoft.com/office/drawing/2014/main" id="{22F00699-62B9-272C-7F54-D7C6967E9327}"/>
              </a:ext>
            </a:extLst>
          </p:cNvPr>
          <p:cNvSpPr txBox="1"/>
          <p:nvPr/>
        </p:nvSpPr>
        <p:spPr>
          <a:xfrm>
            <a:off x="237066" y="4199467"/>
            <a:ext cx="80264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Problem Type &gt; </a:t>
            </a:r>
            <a:r>
              <a:rPr lang="en-US" sz="2800" b="1" dirty="0">
                <a:latin typeface="Times New Roman" panose="02020603050405020304" pitchFamily="18" charset="0"/>
                <a:cs typeface="Times New Roman" panose="02020603050405020304" pitchFamily="18" charset="0"/>
              </a:rPr>
              <a:t>Binary Classification. </a:t>
            </a:r>
          </a:p>
        </p:txBody>
      </p:sp>
    </p:spTree>
    <p:extLst>
      <p:ext uri="{BB962C8B-B14F-4D97-AF65-F5344CB8AC3E}">
        <p14:creationId xmlns:p14="http://schemas.microsoft.com/office/powerpoint/2010/main" val="1151371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8AAB-98B2-B19C-0FA0-ADC4AEB3C7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154C0F-2EEA-F912-59A4-D6387C02B651}"/>
              </a:ext>
            </a:extLst>
          </p:cNvPr>
          <p:cNvSpPr txBox="1"/>
          <p:nvPr/>
        </p:nvSpPr>
        <p:spPr>
          <a:xfrm>
            <a:off x="237065" y="245534"/>
            <a:ext cx="8599204"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1.1 EDA: </a:t>
            </a:r>
            <a:r>
              <a:rPr lang="en-US" sz="4000" dirty="0">
                <a:latin typeface="Times New Roman" panose="02020603050405020304" pitchFamily="18" charset="0"/>
                <a:cs typeface="Times New Roman" panose="02020603050405020304" pitchFamily="18" charset="0"/>
              </a:rPr>
              <a:t>Dataset Overview</a:t>
            </a:r>
          </a:p>
        </p:txBody>
      </p:sp>
      <p:sp>
        <p:nvSpPr>
          <p:cNvPr id="5" name="TextBox 4">
            <a:extLst>
              <a:ext uri="{FF2B5EF4-FFF2-40B4-BE49-F238E27FC236}">
                <a16:creationId xmlns:a16="http://schemas.microsoft.com/office/drawing/2014/main" id="{3959F0CD-5EAC-E219-E86B-1BA504FBDE2A}"/>
              </a:ext>
            </a:extLst>
          </p:cNvPr>
          <p:cNvSpPr txBox="1"/>
          <p:nvPr/>
        </p:nvSpPr>
        <p:spPr>
          <a:xfrm>
            <a:off x="545431" y="1014975"/>
            <a:ext cx="11486148" cy="5093702"/>
          </a:xfrm>
          <a:prstGeom prst="rect">
            <a:avLst/>
          </a:prstGeom>
          <a:noFill/>
        </p:spPr>
        <p:txBody>
          <a:bodyPr wrap="square" rtlCol="0">
            <a:spAutoFit/>
          </a:bodyPr>
          <a:lstStyle/>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Dataset Dimensions:</a:t>
            </a:r>
            <a:r>
              <a:rPr lang="en-US" sz="2800" dirty="0">
                <a:latin typeface="Times New Roman" panose="02020603050405020304" pitchFamily="18" charset="0"/>
                <a:cs typeface="Times New Roman" panose="02020603050405020304" pitchFamily="18" charset="0"/>
              </a:rPr>
              <a:t> Evaluated a total of 7,000 customer training records across 14 distinct feature attributes.</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Irrelevant Feature Removal:</a:t>
            </a:r>
            <a:r>
              <a:rPr lang="en-US" sz="2800" dirty="0">
                <a:latin typeface="Times New Roman" panose="02020603050405020304" pitchFamily="18" charset="0"/>
                <a:cs typeface="Times New Roman" panose="02020603050405020304" pitchFamily="18" charset="0"/>
              </a:rPr>
              <a:t> Dropped non-predictive administrative identifiers (</a:t>
            </a:r>
            <a:r>
              <a:rPr lang="en-US" sz="2800" i="1" dirty="0" err="1">
                <a:latin typeface="Times New Roman" panose="02020603050405020304" pitchFamily="18" charset="0"/>
                <a:cs typeface="Times New Roman" panose="02020603050405020304" pitchFamily="18" charset="0"/>
              </a:rPr>
              <a:t>RowNumber</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CustomerId</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Surname</a:t>
            </a:r>
            <a:r>
              <a:rPr lang="en-US" sz="2800" dirty="0">
                <a:latin typeface="Times New Roman" panose="02020603050405020304" pitchFamily="18" charset="0"/>
                <a:cs typeface="Times New Roman" panose="02020603050405020304" pitchFamily="18" charset="0"/>
              </a:rPr>
              <a:t>) to prevent model overfitting and reduce feature noise. </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Zero Missing Values:</a:t>
            </a:r>
            <a:r>
              <a:rPr lang="en-US" sz="2800" dirty="0">
                <a:latin typeface="Times New Roman" panose="02020603050405020304" pitchFamily="18" charset="0"/>
                <a:cs typeface="Times New Roman" panose="02020603050405020304" pitchFamily="18" charset="0"/>
              </a:rPr>
              <a:t> Confirmed 100% data completeness across all continuous and categorical columns with no null or missing records in either training or test sets.</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No Duplicate Rows:</a:t>
            </a:r>
            <a:r>
              <a:rPr lang="en-US" sz="2800" dirty="0">
                <a:latin typeface="Times New Roman" panose="02020603050405020304" pitchFamily="18" charset="0"/>
                <a:cs typeface="Times New Roman" panose="02020603050405020304" pitchFamily="18" charset="0"/>
              </a:rPr>
              <a:t> Verified that no duplicate customer entries existed in the dataset.</a:t>
            </a:r>
          </a:p>
        </p:txBody>
      </p:sp>
    </p:spTree>
    <p:extLst>
      <p:ext uri="{BB962C8B-B14F-4D97-AF65-F5344CB8AC3E}">
        <p14:creationId xmlns:p14="http://schemas.microsoft.com/office/powerpoint/2010/main" val="434654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D26C7-0042-2CD3-6EDA-679A52FA22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DBC48B-0EFB-D401-EF25-7DFBAC611E88}"/>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1.1 EDA: </a:t>
            </a:r>
            <a:r>
              <a:rPr lang="en-US" sz="4000" dirty="0">
                <a:latin typeface="Times New Roman" panose="02020603050405020304" pitchFamily="18" charset="0"/>
                <a:cs typeface="Times New Roman" panose="02020603050405020304" pitchFamily="18" charset="0"/>
              </a:rPr>
              <a:t>Key Data Insights &amp; Characteristics</a:t>
            </a:r>
          </a:p>
        </p:txBody>
      </p:sp>
      <p:sp>
        <p:nvSpPr>
          <p:cNvPr id="5" name="TextBox 4">
            <a:extLst>
              <a:ext uri="{FF2B5EF4-FFF2-40B4-BE49-F238E27FC236}">
                <a16:creationId xmlns:a16="http://schemas.microsoft.com/office/drawing/2014/main" id="{192682C5-C201-74B7-DDE3-878721C24547}"/>
              </a:ext>
            </a:extLst>
          </p:cNvPr>
          <p:cNvSpPr txBox="1"/>
          <p:nvPr/>
        </p:nvSpPr>
        <p:spPr>
          <a:xfrm>
            <a:off x="423264" y="1366897"/>
            <a:ext cx="5449998" cy="4124206"/>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Target Variable Imbalance:</a:t>
            </a:r>
            <a:r>
              <a:rPr lang="en-US" sz="2800" dirty="0">
                <a:latin typeface="Times New Roman" panose="02020603050405020304" pitchFamily="18" charset="0"/>
                <a:cs typeface="Times New Roman" panose="02020603050405020304" pitchFamily="18" charset="0"/>
              </a:rPr>
              <a:t> The target variable (Exited) displays a clear class imbalance, with only </a:t>
            </a:r>
            <a:r>
              <a:rPr lang="en-US" sz="2800" b="1" dirty="0">
                <a:latin typeface="Times New Roman" panose="02020603050405020304" pitchFamily="18" charset="0"/>
                <a:cs typeface="Times New Roman" panose="02020603050405020304" pitchFamily="18" charset="0"/>
              </a:rPr>
              <a:t>~18.1%</a:t>
            </a:r>
            <a:r>
              <a:rPr lang="en-US" sz="2800" dirty="0">
                <a:latin typeface="Times New Roman" panose="02020603050405020304" pitchFamily="18" charset="0"/>
                <a:cs typeface="Times New Roman" panose="02020603050405020304" pitchFamily="18" charset="0"/>
              </a:rPr>
              <a:t> of customers having churned (1,267 out of 7,000).</a:t>
            </a:r>
          </a:p>
          <a:p>
            <a:pPr marL="342900" indent="-342900">
              <a:spcBef>
                <a:spcPts val="12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Customer </a:t>
            </a:r>
            <a:r>
              <a:rPr lang="en-US" sz="2800" dirty="0">
                <a:latin typeface="Times New Roman" panose="02020603050405020304" pitchFamily="18" charset="0"/>
                <a:cs typeface="Times New Roman" panose="02020603050405020304" pitchFamily="18" charset="0"/>
              </a:rPr>
              <a:t>Geography</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France represents the majority market (~53.3%), followed by Germany and Spain.</a:t>
            </a:r>
          </a:p>
        </p:txBody>
      </p:sp>
      <p:pic>
        <p:nvPicPr>
          <p:cNvPr id="3" name="Picture 2">
            <a:extLst>
              <a:ext uri="{FF2B5EF4-FFF2-40B4-BE49-F238E27FC236}">
                <a16:creationId xmlns:a16="http://schemas.microsoft.com/office/drawing/2014/main" id="{68029E04-AA54-A6E0-211D-E9D637778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67398"/>
            <a:ext cx="5828374" cy="5175139"/>
          </a:xfrm>
          <a:prstGeom prst="rect">
            <a:avLst/>
          </a:prstGeom>
        </p:spPr>
      </p:pic>
    </p:spTree>
    <p:extLst>
      <p:ext uri="{BB962C8B-B14F-4D97-AF65-F5344CB8AC3E}">
        <p14:creationId xmlns:p14="http://schemas.microsoft.com/office/powerpoint/2010/main" val="2177874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1A862-000A-6C8B-8EDA-11876BD37C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408690-04C5-79B6-27D2-0B53F01A715E}"/>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1.2 Feature Engineering:</a:t>
            </a:r>
            <a:endParaRPr lang="en-US"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8E74B27-A781-2DF3-788E-2C9672148AAC}"/>
              </a:ext>
            </a:extLst>
          </p:cNvPr>
          <p:cNvSpPr txBox="1"/>
          <p:nvPr/>
        </p:nvSpPr>
        <p:spPr>
          <a:xfrm>
            <a:off x="423264" y="997565"/>
            <a:ext cx="11419973" cy="4862870"/>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New Feature Creation:</a:t>
            </a:r>
            <a:r>
              <a:rPr lang="en-US" sz="2800" dirty="0">
                <a:latin typeface="Times New Roman" panose="02020603050405020304" pitchFamily="18" charset="0"/>
                <a:cs typeface="Times New Roman" panose="02020603050405020304" pitchFamily="18" charset="0"/>
              </a:rPr>
              <a:t> Created an </a:t>
            </a:r>
            <a:r>
              <a:rPr lang="en-US" sz="2800" i="1" dirty="0" err="1">
                <a:latin typeface="Times New Roman" panose="02020603050405020304" pitchFamily="18" charset="0"/>
                <a:cs typeface="Times New Roman" panose="02020603050405020304" pitchFamily="18" charset="0"/>
              </a:rPr>
              <a:t>IsBalanceZero</a:t>
            </a:r>
            <a:r>
              <a:rPr lang="en-US" sz="2800" dirty="0">
                <a:latin typeface="Times New Roman" panose="02020603050405020304" pitchFamily="18" charset="0"/>
                <a:cs typeface="Times New Roman" panose="02020603050405020304" pitchFamily="18" charset="0"/>
              </a:rPr>
              <a:t> binary indicator flag to explicitly capture zero vs. non-zero balance behavior. </a:t>
            </a:r>
          </a:p>
          <a:p>
            <a:pPr marL="342900" indent="-342900">
              <a:spcBef>
                <a:spcPts val="12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Categorical Feature Encoding: </a:t>
            </a:r>
            <a:r>
              <a:rPr lang="en-US" sz="2800" dirty="0">
                <a:latin typeface="Times New Roman" panose="02020603050405020304" pitchFamily="18" charset="0"/>
                <a:cs typeface="Times New Roman" panose="02020603050405020304" pitchFamily="18" charset="0"/>
              </a:rPr>
              <a:t>Applied One-Hot Encoding to Geography, generating distinct binary columns and applied Binary Mapping to Gender (Male =1, Female = 0).</a:t>
            </a:r>
          </a:p>
          <a:p>
            <a:pPr marL="342900" indent="-342900">
              <a:spcBef>
                <a:spcPts val="12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Feature Scaling:</a:t>
            </a:r>
            <a:r>
              <a:rPr lang="en-US" sz="2800" dirty="0">
                <a:latin typeface="Times New Roman" panose="02020603050405020304" pitchFamily="18" charset="0"/>
                <a:cs typeface="Times New Roman" panose="02020603050405020304" pitchFamily="18" charset="0"/>
              </a:rPr>
              <a:t> Fitted a </a:t>
            </a:r>
            <a:r>
              <a:rPr lang="en-US" sz="2800" dirty="0" err="1">
                <a:latin typeface="Times New Roman" panose="02020603050405020304" pitchFamily="18" charset="0"/>
                <a:cs typeface="Times New Roman" panose="02020603050405020304" pitchFamily="18" charset="0"/>
              </a:rPr>
              <a:t>StandardScaler</a:t>
            </a:r>
            <a:r>
              <a:rPr lang="en-US" sz="2800" dirty="0">
                <a:latin typeface="Times New Roman" panose="02020603050405020304" pitchFamily="18" charset="0"/>
                <a:cs typeface="Times New Roman" panose="02020603050405020304" pitchFamily="18" charset="0"/>
              </a:rPr>
              <a:t> on the training split to standardize continuous features (</a:t>
            </a:r>
            <a:r>
              <a:rPr lang="en-US" sz="2800" i="1" dirty="0" err="1">
                <a:latin typeface="Times New Roman" panose="02020603050405020304" pitchFamily="18" charset="0"/>
                <a:cs typeface="Times New Roman" panose="02020603050405020304" pitchFamily="18" charset="0"/>
              </a:rPr>
              <a:t>CreditScore</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Age</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Tenure</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Balance</a:t>
            </a:r>
            <a:r>
              <a:rPr lang="en-US" sz="2800"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NumOfProducts</a:t>
            </a:r>
            <a:r>
              <a:rPr lang="en-US" sz="2800"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EstimatedSalary</a:t>
            </a:r>
            <a:r>
              <a:rPr lang="en-US" sz="2800" dirty="0">
                <a:latin typeface="Times New Roman" panose="02020603050405020304" pitchFamily="18" charset="0"/>
                <a:cs typeface="Times New Roman" panose="02020603050405020304" pitchFamily="18" charset="0"/>
              </a:rPr>
              <a:t>).</a:t>
            </a:r>
          </a:p>
          <a:p>
            <a:pPr marL="342900" indent="-342900">
              <a:spcBef>
                <a:spcPts val="12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Data Organization:</a:t>
            </a:r>
            <a:r>
              <a:rPr lang="en-US" sz="2800" dirty="0">
                <a:latin typeface="Times New Roman" panose="02020603050405020304" pitchFamily="18" charset="0"/>
                <a:cs typeface="Times New Roman" panose="02020603050405020304" pitchFamily="18" charset="0"/>
              </a:rPr>
              <a:t> Reordered columns to position the target variable (</a:t>
            </a:r>
            <a:r>
              <a:rPr lang="en-US" sz="2800" i="1" dirty="0">
                <a:latin typeface="Times New Roman" panose="02020603050405020304" pitchFamily="18" charset="0"/>
                <a:cs typeface="Times New Roman" panose="02020603050405020304" pitchFamily="18" charset="0"/>
              </a:rPr>
              <a:t>Exited</a:t>
            </a:r>
            <a:r>
              <a:rPr lang="en-US" sz="2800" dirty="0">
                <a:latin typeface="Times New Roman" panose="02020603050405020304" pitchFamily="18" charset="0"/>
                <a:cs typeface="Times New Roman" panose="02020603050405020304" pitchFamily="18" charset="0"/>
              </a:rPr>
              <a:t>) as the final column and exported the processed datasets.</a:t>
            </a:r>
          </a:p>
        </p:txBody>
      </p:sp>
    </p:spTree>
    <p:extLst>
      <p:ext uri="{BB962C8B-B14F-4D97-AF65-F5344CB8AC3E}">
        <p14:creationId xmlns:p14="http://schemas.microsoft.com/office/powerpoint/2010/main" val="243728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30148-2E20-939E-F57C-5637DD2FAA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0C06F2-29D6-F279-C2B4-76D11B3FB8E6}"/>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2 Handling Class Imbalance :</a:t>
            </a:r>
            <a:endParaRPr lang="en-US"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1A1760-CCFF-FFB6-31DB-8EB4F5CA44A9}"/>
              </a:ext>
            </a:extLst>
          </p:cNvPr>
          <p:cNvSpPr txBox="1"/>
          <p:nvPr/>
        </p:nvSpPr>
        <p:spPr>
          <a:xfrm>
            <a:off x="423264" y="1112981"/>
            <a:ext cx="7357157" cy="4632037"/>
          </a:xfrm>
          <a:prstGeom prst="rect">
            <a:avLst/>
          </a:prstGeom>
          <a:noFill/>
        </p:spPr>
        <p:txBody>
          <a:bodyPr wrap="square" rtlCol="0">
            <a:spAutoFit/>
          </a:bodyPr>
          <a:lstStyle/>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Data Splitting</a:t>
            </a:r>
            <a:r>
              <a:rPr lang="en-US" sz="2800" dirty="0">
                <a:latin typeface="Times New Roman" panose="02020603050405020304" pitchFamily="18" charset="0"/>
                <a:cs typeface="Times New Roman" panose="02020603050405020304" pitchFamily="18" charset="0"/>
              </a:rPr>
              <a:t>: Split the dataset into training and validation sets using stratified sampling, ensuring oversampling techniques were applied strictly to the training set to keep validation data untouched and prevent data leakage. </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Synthetic Oversampling</a:t>
            </a:r>
            <a:r>
              <a:rPr lang="en-US" sz="2800" dirty="0">
                <a:latin typeface="Times New Roman" panose="02020603050405020304" pitchFamily="18" charset="0"/>
                <a:cs typeface="Times New Roman" panose="02020603050405020304" pitchFamily="18" charset="0"/>
              </a:rPr>
              <a:t>: Addressed the class imbalance using </a:t>
            </a:r>
            <a:r>
              <a:rPr lang="en-US" sz="2800" b="1" dirty="0">
                <a:latin typeface="Times New Roman" panose="02020603050405020304" pitchFamily="18" charset="0"/>
                <a:cs typeface="Times New Roman" panose="02020603050405020304" pitchFamily="18" charset="0"/>
              </a:rPr>
              <a:t>SMOTE</a:t>
            </a:r>
            <a:r>
              <a:rPr lang="en-US" sz="2800" dirty="0">
                <a:latin typeface="Times New Roman" panose="02020603050405020304" pitchFamily="18" charset="0"/>
                <a:cs typeface="Times New Roman" panose="02020603050405020304" pitchFamily="18" charset="0"/>
              </a:rPr>
              <a:t>, bringing the minority class up to match the majority class at exactly 4,586 samples per class in the training set.</a:t>
            </a:r>
          </a:p>
        </p:txBody>
      </p:sp>
      <p:pic>
        <p:nvPicPr>
          <p:cNvPr id="3" name="Picture 2">
            <a:extLst>
              <a:ext uri="{FF2B5EF4-FFF2-40B4-BE49-F238E27FC236}">
                <a16:creationId xmlns:a16="http://schemas.microsoft.com/office/drawing/2014/main" id="{2B8C9F14-BEA6-AD0E-C5DA-BE6EB3939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152" y="660400"/>
            <a:ext cx="3923085" cy="2679703"/>
          </a:xfrm>
          <a:prstGeom prst="rect">
            <a:avLst/>
          </a:prstGeom>
        </p:spPr>
      </p:pic>
      <p:pic>
        <p:nvPicPr>
          <p:cNvPr id="7" name="Picture 6">
            <a:extLst>
              <a:ext uri="{FF2B5EF4-FFF2-40B4-BE49-F238E27FC236}">
                <a16:creationId xmlns:a16="http://schemas.microsoft.com/office/drawing/2014/main" id="{E6271C0D-4EB1-B3A5-541F-E882A5736D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0152" y="3428999"/>
            <a:ext cx="3938345" cy="2613154"/>
          </a:xfrm>
          <a:prstGeom prst="rect">
            <a:avLst/>
          </a:prstGeom>
        </p:spPr>
      </p:pic>
    </p:spTree>
    <p:extLst>
      <p:ext uri="{BB962C8B-B14F-4D97-AF65-F5344CB8AC3E}">
        <p14:creationId xmlns:p14="http://schemas.microsoft.com/office/powerpoint/2010/main" val="2379401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DD45-6BBA-9443-AB71-246FA74163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A33449-7020-37D3-534A-E242063CAD81}"/>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3.1 Building the Neural Network:</a:t>
            </a:r>
            <a:endParaRPr lang="en-US"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73A2E0E-BA88-EA44-CDE0-B32718B9FA7F}"/>
              </a:ext>
            </a:extLst>
          </p:cNvPr>
          <p:cNvSpPr txBox="1"/>
          <p:nvPr/>
        </p:nvSpPr>
        <p:spPr>
          <a:xfrm>
            <a:off x="423264" y="953420"/>
            <a:ext cx="11419973" cy="5524589"/>
          </a:xfrm>
          <a:prstGeom prst="rect">
            <a:avLst/>
          </a:prstGeom>
          <a:noFill/>
        </p:spPr>
        <p:txBody>
          <a:bodyPr wrap="square" rtlCol="0">
            <a:spAutoFit/>
          </a:bodyPr>
          <a:lstStyle/>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Structure: </a:t>
            </a:r>
            <a:r>
              <a:rPr lang="en-US" sz="2800" dirty="0">
                <a:latin typeface="Times New Roman" panose="02020603050405020304" pitchFamily="18" charset="0"/>
                <a:cs typeface="Times New Roman" panose="02020603050405020304" pitchFamily="18" charset="0"/>
              </a:rPr>
              <a:t>A multi-layer perceptron with input layer sized 13 for 13 features and 3 Hidden layers with 64,32,16 neurons respectively. </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Activation Function: </a:t>
            </a:r>
            <a:r>
              <a:rPr lang="en-US" sz="2800" dirty="0" err="1">
                <a:latin typeface="Times New Roman" panose="02020603050405020304" pitchFamily="18" charset="0"/>
                <a:cs typeface="Times New Roman" panose="02020603050405020304" pitchFamily="18" charset="0"/>
              </a:rPr>
              <a:t>ReLU</a:t>
            </a:r>
            <a:r>
              <a:rPr lang="en-US" sz="2800" dirty="0">
                <a:latin typeface="Times New Roman" panose="02020603050405020304" pitchFamily="18" charset="0"/>
                <a:cs typeface="Times New Roman" panose="02020603050405020304" pitchFamily="18" charset="0"/>
              </a:rPr>
              <a:t> is used after each </a:t>
            </a:r>
            <a:r>
              <a:rPr lang="en-US" sz="2800" dirty="0" err="1">
                <a:latin typeface="Times New Roman" panose="02020603050405020304" pitchFamily="18" charset="0"/>
                <a:cs typeface="Times New Roman" panose="02020603050405020304" pitchFamily="18" charset="0"/>
              </a:rPr>
              <a:t>hidder</a:t>
            </a:r>
            <a:r>
              <a:rPr lang="en-US" sz="2800" dirty="0">
                <a:latin typeface="Times New Roman" panose="02020603050405020304" pitchFamily="18" charset="0"/>
                <a:cs typeface="Times New Roman" panose="02020603050405020304" pitchFamily="18" charset="0"/>
              </a:rPr>
              <a:t> layer to introduce non-linearity.</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Output Layer: </a:t>
            </a:r>
            <a:r>
              <a:rPr lang="en-US" sz="2800" dirty="0">
                <a:latin typeface="Times New Roman" panose="02020603050405020304" pitchFamily="18" charset="0"/>
                <a:cs typeface="Times New Roman" panose="02020603050405020304" pitchFamily="18" charset="0"/>
              </a:rPr>
              <a:t>A single neuron with a Sigmoid activation function to output a probability between 0 and 1, representing the customer churning probability.</a:t>
            </a:r>
          </a:p>
          <a:p>
            <a:pPr marL="342900" indent="-342900">
              <a:spcBef>
                <a:spcPts val="1800"/>
              </a:spcBef>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Regularization &amp; Optimization:</a:t>
            </a:r>
            <a:r>
              <a:rPr lang="en-US" sz="2800" dirty="0">
                <a:latin typeface="Times New Roman" panose="02020603050405020304" pitchFamily="18" charset="0"/>
                <a:cs typeface="Times New Roman" panose="02020603050405020304" pitchFamily="18" charset="0"/>
              </a:rPr>
              <a:t> The model uses Batch Normalization for stable training, Dropout (rates of 20% and 30%) to prevent overfitting, Binary Cross-Entropy Loss for binary classification, and the Adam optimizer with a learning rate of 0.001.</a:t>
            </a:r>
          </a:p>
        </p:txBody>
      </p:sp>
    </p:spTree>
    <p:extLst>
      <p:ext uri="{BB962C8B-B14F-4D97-AF65-F5344CB8AC3E}">
        <p14:creationId xmlns:p14="http://schemas.microsoft.com/office/powerpoint/2010/main" val="1147723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7016D-F080-79C3-FFFD-F787E1DA3A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408B61-44A1-F3E7-7F14-431AE3FC42F3}"/>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3.2 Training The Model:</a:t>
            </a: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22D8D8C-5E83-141F-028E-77744FF53160}"/>
              </a:ext>
            </a:extLst>
          </p:cNvPr>
          <p:cNvSpPr txBox="1"/>
          <p:nvPr/>
        </p:nvSpPr>
        <p:spPr>
          <a:xfrm>
            <a:off x="423264" y="953420"/>
            <a:ext cx="6993535" cy="5447645"/>
          </a:xfrm>
          <a:prstGeom prst="rect">
            <a:avLst/>
          </a:prstGeom>
          <a:noFill/>
        </p:spPr>
        <p:txBody>
          <a:bodyPr wrap="square" rtlCol="0">
            <a:spAutoFit/>
          </a:bodyPr>
          <a:lstStyle/>
          <a:p>
            <a:pPr>
              <a:spcBef>
                <a:spcPts val="1200"/>
              </a:spcBef>
            </a:pPr>
            <a:r>
              <a:rPr lang="en-US" sz="2800" dirty="0">
                <a:latin typeface="Times New Roman" panose="02020603050405020304" pitchFamily="18" charset="0"/>
                <a:cs typeface="Times New Roman" panose="02020603050405020304" pitchFamily="18" charset="0"/>
              </a:rPr>
              <a:t>The model was trained for </a:t>
            </a:r>
            <a:r>
              <a:rPr lang="en-US" sz="2800" b="1" dirty="0">
                <a:latin typeface="Times New Roman" panose="02020603050405020304" pitchFamily="18" charset="0"/>
                <a:cs typeface="Times New Roman" panose="02020603050405020304" pitchFamily="18" charset="0"/>
              </a:rPr>
              <a:t>50 epochs</a:t>
            </a:r>
            <a:r>
              <a:rPr lang="en-US" sz="2800" dirty="0">
                <a:latin typeface="Times New Roman" panose="02020603050405020304" pitchFamily="18" charset="0"/>
                <a:cs typeface="Times New Roman" panose="02020603050405020304" pitchFamily="18" charset="0"/>
              </a:rPr>
              <a:t> to allow it to learn the complex patterns in the data.</a:t>
            </a:r>
          </a:p>
          <a:p>
            <a:pPr>
              <a:spcBef>
                <a:spcPts val="1200"/>
              </a:spcBef>
            </a:pPr>
            <a:r>
              <a:rPr lang="en-US" sz="2800" b="1" dirty="0">
                <a:latin typeface="Times New Roman" panose="02020603050405020304" pitchFamily="18" charset="0"/>
                <a:cs typeface="Times New Roman" panose="02020603050405020304" pitchFamily="18" charset="0"/>
              </a:rPr>
              <a:t>- Training/Validation Performance: </a:t>
            </a:r>
          </a:p>
          <a:p>
            <a:pPr>
              <a:spcBef>
                <a:spcPts val="1200"/>
              </a:spcBef>
            </a:pPr>
            <a:r>
              <a:rPr lang="en-US" sz="2800" dirty="0">
                <a:latin typeface="Times New Roman" panose="02020603050405020304" pitchFamily="18" charset="0"/>
                <a:cs typeface="Times New Roman" panose="02020603050405020304" pitchFamily="18" charset="0"/>
              </a:rPr>
              <a:t>The training process was stable, with the model showing strong performance on both training and validation sets. The validation accuracy quickly converged to a high level, indicating that the model was learning effectively without significant overfitting.</a:t>
            </a:r>
          </a:p>
          <a:p>
            <a:pPr>
              <a:spcBef>
                <a:spcPts val="1200"/>
              </a:spcBef>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Training Accuracy</a:t>
            </a:r>
            <a:r>
              <a:rPr lang="en-US" sz="2800" dirty="0">
                <a:latin typeface="Times New Roman" panose="02020603050405020304" pitchFamily="18" charset="0"/>
                <a:cs typeface="Times New Roman" panose="02020603050405020304" pitchFamily="18" charset="0"/>
              </a:rPr>
              <a:t>: Reached ~96.4%</a:t>
            </a:r>
          </a:p>
          <a:p>
            <a:pPr>
              <a:spcBef>
                <a:spcPts val="1200"/>
              </a:spcBef>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Validation Accuracy</a:t>
            </a:r>
            <a:r>
              <a:rPr lang="en-US" sz="2800" dirty="0">
                <a:latin typeface="Times New Roman" panose="02020603050405020304" pitchFamily="18" charset="0"/>
                <a:cs typeface="Times New Roman" panose="02020603050405020304" pitchFamily="18" charset="0"/>
              </a:rPr>
              <a:t>: Reached ~97.1%</a:t>
            </a:r>
          </a:p>
        </p:txBody>
      </p:sp>
      <p:pic>
        <p:nvPicPr>
          <p:cNvPr id="6" name="Picture 5">
            <a:extLst>
              <a:ext uri="{FF2B5EF4-FFF2-40B4-BE49-F238E27FC236}">
                <a16:creationId xmlns:a16="http://schemas.microsoft.com/office/drawing/2014/main" id="{F046E6BB-5CDD-3AF5-0745-7FC24E51F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2718" y="340356"/>
            <a:ext cx="4360519" cy="2927777"/>
          </a:xfrm>
          <a:prstGeom prst="rect">
            <a:avLst/>
          </a:prstGeom>
        </p:spPr>
      </p:pic>
      <p:pic>
        <p:nvPicPr>
          <p:cNvPr id="8" name="Picture 7">
            <a:extLst>
              <a:ext uri="{FF2B5EF4-FFF2-40B4-BE49-F238E27FC236}">
                <a16:creationId xmlns:a16="http://schemas.microsoft.com/office/drawing/2014/main" id="{C7F8BADD-F0D7-56C4-6E4D-C85C2455F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2717" y="3362955"/>
            <a:ext cx="4360519" cy="2927777"/>
          </a:xfrm>
          <a:prstGeom prst="rect">
            <a:avLst/>
          </a:prstGeom>
        </p:spPr>
      </p:pic>
    </p:spTree>
    <p:extLst>
      <p:ext uri="{BB962C8B-B14F-4D97-AF65-F5344CB8AC3E}">
        <p14:creationId xmlns:p14="http://schemas.microsoft.com/office/powerpoint/2010/main" val="352109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1B99D-24AC-5C5C-B7F1-9584EB6C6E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6AB6EA-D806-799B-E64F-459A39E44667}"/>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3.3 Evaluating The Model:</a:t>
            </a: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19B08F1-024B-BC4A-21C0-05ECAC6F33E8}"/>
              </a:ext>
            </a:extLst>
          </p:cNvPr>
          <p:cNvSpPr txBox="1"/>
          <p:nvPr/>
        </p:nvSpPr>
        <p:spPr>
          <a:xfrm>
            <a:off x="507931" y="1182020"/>
            <a:ext cx="6180736" cy="4154984"/>
          </a:xfrm>
          <a:prstGeom prst="rect">
            <a:avLst/>
          </a:prstGeom>
          <a:noFill/>
        </p:spPr>
        <p:txBody>
          <a:bodyPr wrap="square" rtlCol="0">
            <a:spAutoFit/>
          </a:bodyPr>
          <a:lstStyle/>
          <a:p>
            <a:pPr>
              <a:spcBef>
                <a:spcPts val="1200"/>
              </a:spcBef>
            </a:pPr>
            <a:r>
              <a:rPr lang="en-US" sz="2800" dirty="0">
                <a:latin typeface="Times New Roman" panose="02020603050405020304" pitchFamily="18" charset="0"/>
                <a:cs typeface="Times New Roman" panose="02020603050405020304" pitchFamily="18" charset="0"/>
              </a:rPr>
              <a:t>After training, we evaluated the final model's performance on the hold-out validation set to get an unbiased estimate of its generalization capabilities.</a:t>
            </a:r>
          </a:p>
          <a:p>
            <a:pPr>
              <a:spcBef>
                <a:spcPts val="1200"/>
              </a:spcBef>
            </a:pPr>
            <a:r>
              <a:rPr lang="en-US" sz="2800" b="1" dirty="0">
                <a:latin typeface="Times New Roman" panose="02020603050405020304" pitchFamily="18" charset="0"/>
                <a:cs typeface="Times New Roman" panose="02020603050405020304" pitchFamily="18" charset="0"/>
              </a:rPr>
              <a:t>- Performance Metrics:</a:t>
            </a:r>
          </a:p>
          <a:p>
            <a:pPr>
              <a:spcBef>
                <a:spcPts val="1200"/>
              </a:spcBef>
            </a:pPr>
            <a:r>
              <a:rPr lang="en-US" sz="2800" b="1" dirty="0">
                <a:latin typeface="Times New Roman" panose="02020603050405020304" pitchFamily="18" charset="0"/>
                <a:cs typeface="Times New Roman" panose="02020603050405020304" pitchFamily="18" charset="0"/>
              </a:rPr>
              <a:t>ROC-AUC Score:</a:t>
            </a:r>
            <a:r>
              <a:rPr lang="en-US" sz="2800" dirty="0">
                <a:latin typeface="Times New Roman" panose="02020603050405020304" pitchFamily="18" charset="0"/>
                <a:cs typeface="Times New Roman" panose="02020603050405020304" pitchFamily="18" charset="0"/>
              </a:rPr>
              <a:t> 99%.</a:t>
            </a:r>
          </a:p>
          <a:p>
            <a:pPr>
              <a:spcBef>
                <a:spcPts val="1200"/>
              </a:spcBef>
            </a:pPr>
            <a:r>
              <a:rPr lang="en-US" sz="2800" b="1" dirty="0">
                <a:latin typeface="Times New Roman" panose="02020603050405020304" pitchFamily="18" charset="0"/>
                <a:cs typeface="Times New Roman" panose="02020603050405020304" pitchFamily="18" charset="0"/>
              </a:rPr>
              <a:t>Accuracy:</a:t>
            </a:r>
            <a:r>
              <a:rPr lang="en-US" sz="2800" dirty="0">
                <a:latin typeface="Times New Roman" panose="02020603050405020304" pitchFamily="18" charset="0"/>
                <a:cs typeface="Times New Roman" panose="02020603050405020304" pitchFamily="18" charset="0"/>
              </a:rPr>
              <a:t> 97.36%.</a:t>
            </a:r>
          </a:p>
          <a:p>
            <a:pPr>
              <a:spcBef>
                <a:spcPts val="1200"/>
              </a:spcBef>
            </a:pPr>
            <a:r>
              <a:rPr lang="en-US" sz="2800" b="1" dirty="0">
                <a:latin typeface="Times New Roman" panose="02020603050405020304" pitchFamily="18" charset="0"/>
                <a:cs typeface="Times New Roman" panose="02020603050405020304" pitchFamily="18" charset="0"/>
              </a:rPr>
              <a:t>F1-Score:</a:t>
            </a:r>
            <a:r>
              <a:rPr lang="en-US" sz="2800" dirty="0">
                <a:latin typeface="Times New Roman" panose="02020603050405020304" pitchFamily="18" charset="0"/>
                <a:cs typeface="Times New Roman" panose="02020603050405020304" pitchFamily="18" charset="0"/>
              </a:rPr>
              <a:t> 0.9256.</a:t>
            </a:r>
          </a:p>
        </p:txBody>
      </p:sp>
      <p:pic>
        <p:nvPicPr>
          <p:cNvPr id="5" name="Picture 4">
            <a:extLst>
              <a:ext uri="{FF2B5EF4-FFF2-40B4-BE49-F238E27FC236}">
                <a16:creationId xmlns:a16="http://schemas.microsoft.com/office/drawing/2014/main" id="{55BF3DB6-27A0-193E-D8E7-3C89B8EC6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8667" y="1476428"/>
            <a:ext cx="5221234" cy="3566167"/>
          </a:xfrm>
          <a:prstGeom prst="rect">
            <a:avLst/>
          </a:prstGeom>
        </p:spPr>
      </p:pic>
    </p:spTree>
    <p:extLst>
      <p:ext uri="{BB962C8B-B14F-4D97-AF65-F5344CB8AC3E}">
        <p14:creationId xmlns:p14="http://schemas.microsoft.com/office/powerpoint/2010/main" val="3775881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96277-8FD2-7828-A290-D01910F099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234869-A987-17D9-74E4-A3BF855E2E80}"/>
              </a:ext>
            </a:extLst>
          </p:cNvPr>
          <p:cNvSpPr txBox="1"/>
          <p:nvPr/>
        </p:nvSpPr>
        <p:spPr>
          <a:xfrm>
            <a:off x="237064" y="245534"/>
            <a:ext cx="1160617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3.4 Prediction the Testing Dataset:</a:t>
            </a: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0B7310C-9F60-B007-35D5-B0049DF91F2E}"/>
              </a:ext>
            </a:extLst>
          </p:cNvPr>
          <p:cNvSpPr txBox="1"/>
          <p:nvPr/>
        </p:nvSpPr>
        <p:spPr>
          <a:xfrm>
            <a:off x="507931" y="1182020"/>
            <a:ext cx="11335306" cy="240065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 Final Submission:</a:t>
            </a:r>
          </a:p>
          <a:p>
            <a:r>
              <a:rPr lang="en-US" sz="2800" dirty="0">
                <a:latin typeface="Times New Roman" panose="02020603050405020304" pitchFamily="18" charset="0"/>
                <a:cs typeface="Times New Roman" panose="02020603050405020304" pitchFamily="18" charset="0"/>
              </a:rPr>
              <a:t>The final model was used to make predictions on the unseen test dataset.</a:t>
            </a:r>
          </a:p>
          <a:p>
            <a:r>
              <a:rPr lang="en-US" sz="2800" dirty="0">
                <a:latin typeface="Times New Roman" panose="02020603050405020304" pitchFamily="18" charset="0"/>
                <a:cs typeface="Times New Roman" panose="02020603050405020304" pitchFamily="18" charset="0"/>
              </a:rPr>
              <a:t>The model's output (probability) was converted to a binary prediction (0 or 1) using the optimized threshold.</a:t>
            </a:r>
          </a:p>
          <a:p>
            <a:pPr>
              <a:spcBef>
                <a:spcPts val="1200"/>
              </a:spcBef>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86075"/>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docProps/app.xml><?xml version="1.0" encoding="utf-8"?>
<Properties xmlns="http://schemas.openxmlformats.org/officeDocument/2006/extended-properties" xmlns:vt="http://schemas.openxmlformats.org/officeDocument/2006/docPropsVTypes">
  <Template>Retrospect</Template>
  <TotalTime>173</TotalTime>
  <Words>706</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Retrospect</vt:lpstr>
      <vt:lpstr>Bank Customers Predictions Using Deep Learning Neural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dc:creator>
  <cp:lastModifiedBy>ali</cp:lastModifiedBy>
  <cp:revision>12</cp:revision>
  <dcterms:created xsi:type="dcterms:W3CDTF">2026-08-11T21:42:18Z</dcterms:created>
  <dcterms:modified xsi:type="dcterms:W3CDTF">2026-08-13T01:04:50Z</dcterms:modified>
</cp:coreProperties>
</file>